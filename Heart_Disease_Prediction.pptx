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F3A47">
              <a:alpha val="70000"/>
            </a:srgbClr>
          </a:solidFill>
          <a:ln w="12700">
            <a:solidFill>
              <a:srgbClr val="1F3A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INTELLIGENCE WITH DATA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Disease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Enable Early Clinical Detection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3200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Group Project  | 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4114800"/>
            <a:ext cx="960120" cy="777240"/>
          </a:xfrm>
          <a:prstGeom prst="rect">
            <a:avLst/>
          </a:prstGeom>
          <a:solidFill>
            <a:srgbClr val="1F3A47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41330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0" y="45079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40880" y="4114800"/>
            <a:ext cx="960120" cy="777240"/>
          </a:xfrm>
          <a:prstGeom prst="rect">
            <a:avLst/>
          </a:prstGeom>
          <a:solidFill>
            <a:srgbClr val="1F3A47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41330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40880" y="45079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38160" y="4114800"/>
            <a:ext cx="960120" cy="777240"/>
          </a:xfrm>
          <a:prstGeom prst="rect">
            <a:avLst/>
          </a:prstGeom>
          <a:solidFill>
            <a:srgbClr val="1F3A47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0" y="41330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8160" y="45079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33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Study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399032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Machine Learning in cardiovascular health — predicting heart disease from patient clinical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68680"/>
            <a:ext cx="4023360" cy="1097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033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Gap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10912" y="1399032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often diagnosed late. No automated tool exists in many clinics to flag high-risk patients early.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4023360" cy="109728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090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456432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model to classify patients as having heart disease (1) or not (0) based on 13 clinical features.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926080"/>
            <a:ext cx="4023360" cy="1097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090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456432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pharmacists and clinicians to intervene early, reduce hospitalizations, and optimize patient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 &amp; SPECIFIC OBJECTIVES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977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77240"/>
            <a:ext cx="397764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7955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2618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clinical features are the strongest predictors of heart disease?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002536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02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19659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ML model accurately classify patients as high or low risk?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706624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6700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algorithm performs best on this dataset?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41071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37413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results support early pharmaceutical intervention?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11480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07822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link between cholesterol, heart rate, and heart disease?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777240"/>
            <a:ext cx="3977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777240"/>
            <a:ext cx="3977640" cy="36576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7955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298448"/>
            <a:ext cx="228600" cy="2286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298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84648" y="126187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risk factors using Exploratory Data Analysis (EDA)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2002536"/>
            <a:ext cx="228600" cy="2286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0025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84648" y="19659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 clean the dataset for ML readiness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2706624"/>
            <a:ext cx="228600" cy="2286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7066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84648" y="267004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 models: Logistic Regression, Decision Tree, Random Forest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410712"/>
            <a:ext cx="228600" cy="2286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4107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84648" y="337413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using Accuracy, Precision, Recall &amp; F1-Score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46320" y="4114800"/>
            <a:ext cx="228600" cy="2286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114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84648" y="407822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clinical actions based on feature importance results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METHODOLOGY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200400" cy="128016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822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Heart Disease UCI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300 patients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31673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14 clinical features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49047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156 with heart disease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66420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144 without heart disease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183794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0 missing values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3200400" cy="269748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</a:tblGrid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age (years)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1=Male, 0=Female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pain type (0-3)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trestbps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Resting blood pressure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cholesterol mg/dl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heart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1=Disease, 0=No Disease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886200" y="777240"/>
            <a:ext cx="45720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86200" y="7772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70832" y="77724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8138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26280" y="10424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heart_disease_dataset.xlsx into Python (pandas)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886200" y="1508760"/>
            <a:ext cx="45720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15087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70832" y="150876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1545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26280" y="17739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values, encode categories, scale features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86200" y="2240280"/>
            <a:ext cx="45720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86200" y="22402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370832" y="224028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26280" y="22768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26280" y="25054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distributions, correlations, and risk factors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886200" y="2971800"/>
            <a:ext cx="45720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86200" y="29718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370832" y="297180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008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26280" y="32369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 models on 80% data, test on 20%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886200" y="3703320"/>
            <a:ext cx="45720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86200" y="37033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370832" y="370332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26280" y="37398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26280" y="39684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Confusion Matrix, ROC-AUC, F1-Score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886200" y="4434840"/>
            <a:ext cx="45720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886200" y="44348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370832" y="443484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26280" y="44714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526280" y="47000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best model &amp; top predictors for clinical use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(EDA)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749808"/>
            <a:ext cx="83210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EDA Plots — Disease Distribution | Age | Sex | Cholesterol vs Age | Heart Rate | Correlation Heatmap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RESULTS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749808"/>
            <a:ext cx="832104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Confusion Matrices | Accuracy Comparison | ROC Curves | Feature Importance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SUMMARY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777240"/>
            <a:ext cx="2743200" cy="1371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2468880" cy="20116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43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STRENGTHS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Simple &amp; interpretable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2004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Good for linear 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Fast to train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777240"/>
            <a:ext cx="2743200" cy="4160520"/>
          </a:xfrm>
          <a:prstGeom prst="rect">
            <a:avLst/>
          </a:prstGeom>
          <a:solidFill>
            <a:srgbClr val="1A252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777240"/>
            <a:ext cx="2743200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960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1691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342900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2743200"/>
            <a:ext cx="246888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743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STRENGTHS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20440" y="2971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Best accuracy (70%)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20440" y="32004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Easy to visualize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20440" y="34290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Handles non-linear data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777240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777240"/>
            <a:ext cx="2743200" cy="1371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960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1691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635508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2743200"/>
            <a:ext cx="2468880" cy="2011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743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STRENGTHS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46520" y="2971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Good feature importance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32004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Resistant to overfitting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46520" y="34290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Robust model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FEATURE IMPORTANCE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Predictors of Heart Disease (Random Forest)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(chol)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71800" y="1207008"/>
            <a:ext cx="4389120" cy="20116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1207008"/>
            <a:ext cx="4295067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94299" y="11704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Heart Rate (thalach)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71800" y="1737360"/>
            <a:ext cx="4389120" cy="20116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737360"/>
            <a:ext cx="4263717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2949" y="17007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2311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71800" y="2267712"/>
            <a:ext cx="4389120" cy="20116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71800" y="2267712"/>
            <a:ext cx="3918857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18089" y="22311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Depression (oldpeak)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71800" y="2798064"/>
            <a:ext cx="4389120" cy="20116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2798064"/>
            <a:ext cx="3699401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8633" y="2761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71800" y="3328416"/>
            <a:ext cx="4389120" cy="20116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3328416"/>
            <a:ext cx="3417243" cy="20116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6475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822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Vessels (ca)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71800" y="3858768"/>
            <a:ext cx="4389120" cy="20116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3858768"/>
            <a:ext cx="2351314" cy="201168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50546" y="38221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3525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Thalassemia (thal)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71800" y="4389120"/>
            <a:ext cx="4389120" cy="20116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800" y="4389120"/>
            <a:ext cx="2194560" cy="201168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435254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777240"/>
            <a:ext cx="3749040" cy="416052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166360" y="868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193792" y="132588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129844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achieved the highest accuracy at 70%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93792" y="185623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182880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&amp; Max Heart Rate are the top 2 predictors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93792" y="238658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23591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showed higher rates of heart disease in this dataset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93792" y="2916936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288950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55-65 are the highest-risk group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93792" y="344728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341985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oldpeak (ST depression) strongly indicates disease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193792" y="397764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0" y="395020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patients — 52% with heart disease, 48% without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RECOMMENDATIONS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95528"/>
            <a:ext cx="4023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95528"/>
            <a:ext cx="502920" cy="1298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8869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Cholesterol Screening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225296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cholesterol is the #1 predictor, all patients above 45 should have mandatory cholesterol screening during pharmacy visits.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795528"/>
            <a:ext cx="4023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795528"/>
            <a:ext cx="502920" cy="12984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527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8869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Monitoring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225296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maximum heart rate (thalach) is a strong indicator. Clinicians should investigate patients with abnormally low exercise heart rate.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023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40280"/>
            <a:ext cx="502920" cy="1298448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97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3317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Age-Based Risk Flagging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67004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55-65 should be automatically flagged as high-risk in electronic health records for proactive monitoring.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240280"/>
            <a:ext cx="4023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40280"/>
            <a:ext cx="502920" cy="12984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97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23317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ML-Assisted Decision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267004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Tree model (70% accuracy) should be integrated as a clinical decision-support tool in outpatient pharmacy settings.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685032"/>
            <a:ext cx="4023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85032"/>
            <a:ext cx="502920" cy="12984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42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37764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Education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1148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patients should receive pharmaceutical counseling on lifestyle modifications — diet, exercise, and medication adherence.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685032"/>
            <a:ext cx="4023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85032"/>
            <a:ext cx="502920" cy="1298448"/>
          </a:xfrm>
          <a:prstGeom prst="rect">
            <a:avLst/>
          </a:prstGeom>
          <a:solidFill>
            <a:srgbClr val="85929E"/>
          </a:solidFill>
          <a:ln w="12700">
            <a:solidFill>
              <a:srgbClr val="8592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142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40680" y="37764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Research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41148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larger, more diverse dataset is recommended to improve model accuracy beyond 70% and reduce prediction bias.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1F3A47">
              <a:alpha val="60000"/>
            </a:srgbClr>
          </a:solidFill>
          <a:ln w="12700">
            <a:solidFill>
              <a:srgbClr val="1F3A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project demonstrates that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can save lives.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36576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19456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successfully built and compared 3 ML models on heart disease patient data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88336"/>
            <a:ext cx="36576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6700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achieved the best accuracy of 70% on our dataset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36576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14553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Cholesterol, Max Heart Rate, and Age are the top 3 clinical risk factors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39312"/>
            <a:ext cx="36576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62102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findings support early pharmaceutical and clinical intervention strategies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36576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09651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can be a valuable decision-support tool in pharmacy practice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41148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63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Intelligence with Data Analytics  |  Heart Disease Prediction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</dc:title>
  <dc:subject>PptxGenJS Presentation</dc:subject>
  <dc:creator>PptxGenJS</dc:creator>
  <cp:lastModifiedBy>PptxGenJS</cp:lastModifiedBy>
  <cp:revision>1</cp:revision>
  <dcterms:created xsi:type="dcterms:W3CDTF">2026-02-28T13:24:14Z</dcterms:created>
  <dcterms:modified xsi:type="dcterms:W3CDTF">2026-02-28T13:24:14Z</dcterms:modified>
</cp:coreProperties>
</file>